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20"/>
  </p:notesMasterIdLst>
  <p:sldIdLst>
    <p:sldId id="2147481411" r:id="rId5"/>
    <p:sldId id="2147481410" r:id="rId6"/>
    <p:sldId id="2147481415" r:id="rId7"/>
    <p:sldId id="2147481416" r:id="rId8"/>
    <p:sldId id="2147481417" r:id="rId9"/>
    <p:sldId id="2147481418" r:id="rId10"/>
    <p:sldId id="2147481419" r:id="rId11"/>
    <p:sldId id="2147481420" r:id="rId12"/>
    <p:sldId id="2147481421" r:id="rId13"/>
    <p:sldId id="2147481422" r:id="rId14"/>
    <p:sldId id="2147481424" r:id="rId15"/>
    <p:sldId id="2147481425" r:id="rId16"/>
    <p:sldId id="2147481426" r:id="rId17"/>
    <p:sldId id="2147481427" r:id="rId18"/>
    <p:sldId id="2147481428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0A23A-13F0-4FBD-9939-B9828733F2C8}" v="455" dt="2026-03-13T17:12:33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0" autoAdjust="0"/>
    <p:restoredTop sz="92802" autoAdjust="0"/>
  </p:normalViewPr>
  <p:slideViewPr>
    <p:cSldViewPr snapToGrid="0">
      <p:cViewPr varScale="1">
        <p:scale>
          <a:sx n="100" d="100"/>
          <a:sy n="100" d="100"/>
        </p:scale>
        <p:origin x="96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3B195-901A-4432-911D-2ABEF034862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F554E-A3A6-434A-A3F2-819680561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59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Ful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noProof="0" dirty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9A5FE8-62E3-0D2E-834A-D1F1B8269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3" name="Innovation Curve">
            <a:extLst>
              <a:ext uri="{FF2B5EF4-FFF2-40B4-BE49-F238E27FC236}">
                <a16:creationId xmlns:a16="http://schemas.microsoft.com/office/drawing/2014/main" id="{18332D96-F8AA-AD1E-863A-6EA58DA26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5655" y="0"/>
            <a:ext cx="6835842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Click to add image. Then Reorder: Send to back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CDC6CD3E-31EA-EA2F-BE3B-37D4E6526A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101235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Information Type:</a:t>
            </a:r>
            <a:br>
              <a:rPr lang="en-US" noProof="0" dirty="0"/>
            </a:br>
            <a:r>
              <a:rPr lang="en-US" noProof="0" dirty="0"/>
              <a:t>Company:  </a:t>
            </a:r>
            <a:br>
              <a:rPr lang="en-US" noProof="0" dirty="0"/>
            </a:br>
            <a:r>
              <a:rPr lang="en-US" noProof="0" dirty="0"/>
              <a:t>Information Owner: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BD22-02FF-5EAB-ABA3-3C0BB396027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566C0A6-4FFE-882A-7F2D-B9B9A23AB5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79393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FACCEEE-5469-CC54-C90B-C9C1BF3F2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79393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noProof="0" dirty="0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A6808F4F-EA69-F71A-723C-E607F81879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0064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Partia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dirty="0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B69904B-F3B0-9924-1277-D5E10CC8F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8" name="Innovation Curve">
            <a:extLst>
              <a:ext uri="{FF2B5EF4-FFF2-40B4-BE49-F238E27FC236}">
                <a16:creationId xmlns:a16="http://schemas.microsoft.com/office/drawing/2014/main" id="{F707DE12-3594-93EB-F056-2B2C43B247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37463" y="3175"/>
            <a:ext cx="4554537" cy="685641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12179AF-A82A-2C38-AA6E-ADD8AE770B1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79799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79799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F1A70F1C-0C1D-4983-5A07-15932C3427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3CEDB687-72D7-CB65-F36A-20FAF24C235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1475" y="5875374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700" kern="1200" noProof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Information Type:</a:t>
            </a:r>
            <a:br>
              <a:rPr lang="en-US" noProof="0" dirty="0"/>
            </a:br>
            <a:r>
              <a:rPr lang="en-US" noProof="0" dirty="0"/>
              <a:t>Company:  </a:t>
            </a:r>
            <a:br>
              <a:rPr lang="en-US" noProof="0" dirty="0"/>
            </a:br>
            <a:r>
              <a:rPr lang="en-US" noProof="0" dirty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17473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dirty="0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7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7" y="3810000"/>
            <a:ext cx="11440477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F38E4A-7B13-70A1-52C6-61A780336E87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3B868D7-8467-2439-DEEF-BBA9DFE90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60ABE840-6E2F-413E-A4F2-D50BE7A3C8B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Information Type:</a:t>
            </a:r>
            <a:br>
              <a:rPr lang="en-US" noProof="0" dirty="0"/>
            </a:br>
            <a:r>
              <a:rPr lang="en-US" noProof="0" dirty="0"/>
              <a:t>Company:  </a:t>
            </a:r>
            <a:br>
              <a:rPr lang="en-US" noProof="0" dirty="0"/>
            </a:br>
            <a:r>
              <a:rPr lang="en-US" noProof="0" dirty="0"/>
              <a:t>Information Owner:</a:t>
            </a:r>
          </a:p>
        </p:txBody>
      </p:sp>
      <p:sp>
        <p:nvSpPr>
          <p:cNvPr id="11" name="NTT DATA Global Logo" descr="NTT DATA Global Logo">
            <a:extLst>
              <a:ext uri="{FF2B5EF4-FFF2-40B4-BE49-F238E27FC236}">
                <a16:creationId xmlns:a16="http://schemas.microsoft.com/office/drawing/2014/main" id="{A2A24C7A-90C2-A7EA-697B-7A559561F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4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Cover_Dark_Image Bot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 Navy SemiTrans Overlay">
            <a:extLst>
              <a:ext uri="{FF2B5EF4-FFF2-40B4-BE49-F238E27FC236}">
                <a16:creationId xmlns:a16="http://schemas.microsoft.com/office/drawing/2014/main" id="{814008A9-48D1-A825-2133-305473A22B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2096604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0" cy="651610"/>
          </a:xfrm>
        </p:spPr>
        <p:txBody>
          <a:bodyPr/>
          <a:lstStyle>
            <a:lvl1pPr>
              <a:defRPr sz="4400" b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31855" y="3147301"/>
            <a:ext cx="788669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71690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Innovation Curve Over v02">
            <a:extLst>
              <a:ext uri="{FF2B5EF4-FFF2-40B4-BE49-F238E27FC236}">
                <a16:creationId xmlns:a16="http://schemas.microsoft.com/office/drawing/2014/main" id="{7A6AA644-177D-9E4C-8A3F-250C66632B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3733800"/>
            <a:ext cx="2752725" cy="2743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Info box">
            <a:extLst>
              <a:ext uri="{FF2B5EF4-FFF2-40B4-BE49-F238E27FC236}">
                <a16:creationId xmlns:a16="http://schemas.microsoft.com/office/drawing/2014/main" id="{56B3E0DC-CFF6-D134-CAF5-A5425EB6CB8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Information Type:</a:t>
            </a:r>
            <a:br>
              <a:rPr lang="en-US" noProof="0" dirty="0"/>
            </a:br>
            <a:r>
              <a:rPr lang="en-US" noProof="0" dirty="0"/>
              <a:t>Company:  </a:t>
            </a:r>
            <a:br>
              <a:rPr lang="en-US" noProof="0" dirty="0"/>
            </a:br>
            <a:r>
              <a:rPr lang="en-US" noProof="0" dirty="0"/>
              <a:t>Information Owner:</a:t>
            </a:r>
          </a:p>
        </p:txBody>
      </p:sp>
      <p:sp>
        <p:nvSpPr>
          <p:cNvPr id="14" name="NTT DATA Global Logo" descr="NTT DATA Global Logo">
            <a:extLst>
              <a:ext uri="{FF2B5EF4-FFF2-40B4-BE49-F238E27FC236}">
                <a16:creationId xmlns:a16="http://schemas.microsoft.com/office/drawing/2014/main" id="{94BFDE7A-6BFD-69BD-47EF-32959BB9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695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0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60207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734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826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553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Blank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10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Blank_Dark with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71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Ful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/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5AC7748B-57B0-6A46-ED50-8FBD40E607A6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7188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E3C760B8-DB89-2960-48EE-7551EFCFDEA7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892323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6829493" cy="79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586909" y="6563358"/>
            <a:ext cx="3111831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</p:spTree>
    <p:extLst>
      <p:ext uri="{BB962C8B-B14F-4D97-AF65-F5344CB8AC3E}">
        <p14:creationId xmlns:p14="http://schemas.microsoft.com/office/powerpoint/2010/main" val="1883883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Bottom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3191FB2-5C06-3B67-1454-1D220DA037E1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87694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Thre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95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Collection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91928" y="3987606"/>
            <a:ext cx="5365113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49318" y="2163386"/>
            <a:ext cx="2377440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5" y="333373"/>
            <a:ext cx="4419959" cy="356616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59747" y="2140169"/>
            <a:ext cx="2460778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3840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3"/>
            <a:ext cx="4353503" cy="356616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3"/>
            <a:ext cx="2460778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7" y="3744196"/>
            <a:ext cx="2377440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79" y="5399590"/>
            <a:ext cx="5371355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59747" y="4926695"/>
            <a:ext cx="2460778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 userDrawn="1"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dirty="0" err="1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8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Future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87ED33-6A4E-4B88-9978-60E9E0EBFC9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NTT DATA Global Logo">
            <a:extLst>
              <a:ext uri="{FF2B5EF4-FFF2-40B4-BE49-F238E27FC236}">
                <a16:creationId xmlns:a16="http://schemas.microsoft.com/office/drawing/2014/main" id="{3F03F05C-59F6-715B-5A33-907AD87C66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09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Navy Dark with picture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 Navy SemiTrans Overlay">
            <a:extLst>
              <a:ext uri="{FF2B5EF4-FFF2-40B4-BE49-F238E27FC236}">
                <a16:creationId xmlns:a16="http://schemas.microsoft.com/office/drawing/2014/main" id="{6E4F8208-B33A-86C1-C4BF-6C513A841D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dirty="0"/>
              <a:t> 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CE6D5FB-5128-84ED-8909-686C6A3993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10" name="NTT DATA Global Logo" descr="NTT DATA Global Logo">
            <a:extLst>
              <a:ext uri="{FF2B5EF4-FFF2-40B4-BE49-F238E27FC236}">
                <a16:creationId xmlns:a16="http://schemas.microsoft.com/office/drawing/2014/main" id="{188EBC45-4F1C-E0B0-9BB4-2942DDBDBEA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2707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E3EC910-66B9-7290-6910-39097643A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8FF710-A250-66BE-1682-899EBECEA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4421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</p:spTree>
    <p:extLst>
      <p:ext uri="{BB962C8B-B14F-4D97-AF65-F5344CB8AC3E}">
        <p14:creationId xmlns:p14="http://schemas.microsoft.com/office/powerpoint/2010/main" val="17887718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Curve on Righ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  <a:endParaRPr lang="pt-BR" noProof="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8" name="Innovation Curve">
            <a:extLst>
              <a:ext uri="{FF2B5EF4-FFF2-40B4-BE49-F238E27FC236}">
                <a16:creationId xmlns:a16="http://schemas.microsoft.com/office/drawing/2014/main" id="{8FAD0C94-F295-1BA4-75E9-C0403855E0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970" y="2281852"/>
            <a:ext cx="3879556" cy="389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9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 Curve 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Grid">
            <a:extLst>
              <a:ext uri="{FF2B5EF4-FFF2-40B4-BE49-F238E27FC236}">
                <a16:creationId xmlns:a16="http://schemas.microsoft.com/office/drawing/2014/main" id="{7C23E814-83D3-3A4C-E7C1-1CC5AAE30D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9852" y="2403913"/>
            <a:ext cx="3755940" cy="376771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Mask">
            <a:extLst>
              <a:ext uri="{FF2B5EF4-FFF2-40B4-BE49-F238E27FC236}">
                <a16:creationId xmlns:a16="http://schemas.microsoft.com/office/drawing/2014/main" id="{6A3F8A03-35AC-7457-3761-25EFCA9E3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389852" y="2403913"/>
            <a:ext cx="3755940" cy="3767718"/>
          </a:xfrm>
          <a:custGeom>
            <a:avLst/>
            <a:gdLst>
              <a:gd name="connsiteX0" fmla="*/ 1221722 w 3755940"/>
              <a:gd name="connsiteY0" fmla="*/ 0 h 3767718"/>
              <a:gd name="connsiteX1" fmla="*/ 2020606 w 3755940"/>
              <a:gd name="connsiteY1" fmla="*/ 439029 h 3767718"/>
              <a:gd name="connsiteX2" fmla="*/ 2500058 w 3755940"/>
              <a:gd name="connsiteY2" fmla="*/ 1241044 h 3767718"/>
              <a:gd name="connsiteX3" fmla="*/ 3753449 w 3755940"/>
              <a:gd name="connsiteY3" fmla="*/ 3762701 h 3767718"/>
              <a:gd name="connsiteX4" fmla="*/ 3755940 w 3755940"/>
              <a:gd name="connsiteY4" fmla="*/ 3767718 h 3767718"/>
              <a:gd name="connsiteX5" fmla="*/ 2499239 w 3755940"/>
              <a:gd name="connsiteY5" fmla="*/ 3767718 h 3767718"/>
              <a:gd name="connsiteX6" fmla="*/ 2498278 w 3755940"/>
              <a:gd name="connsiteY6" fmla="*/ 3765796 h 3767718"/>
              <a:gd name="connsiteX7" fmla="*/ 1255918 w 3755940"/>
              <a:gd name="connsiteY7" fmla="*/ 1279154 h 3767718"/>
              <a:gd name="connsiteX8" fmla="*/ 1255918 w 3755940"/>
              <a:gd name="connsiteY8" fmla="*/ 3767718 h 3767718"/>
              <a:gd name="connsiteX9" fmla="*/ 1252431 w 3755940"/>
              <a:gd name="connsiteY9" fmla="*/ 3767718 h 3767718"/>
              <a:gd name="connsiteX10" fmla="*/ 0 w 3755940"/>
              <a:gd name="connsiteY10" fmla="*/ 3767718 h 3767718"/>
              <a:gd name="connsiteX11" fmla="*/ 0 w 3755940"/>
              <a:gd name="connsiteY11" fmla="*/ 1264422 h 3767718"/>
              <a:gd name="connsiteX12" fmla="*/ 299364 w 3755940"/>
              <a:gd name="connsiteY12" fmla="*/ 383020 h 3767718"/>
              <a:gd name="connsiteX13" fmla="*/ 1221722 w 3755940"/>
              <a:gd name="connsiteY13" fmla="*/ 0 h 376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55940" h="3767718">
                <a:moveTo>
                  <a:pt x="1221722" y="0"/>
                </a:moveTo>
                <a:cubicBezTo>
                  <a:pt x="1554534" y="0"/>
                  <a:pt x="1814293" y="189446"/>
                  <a:pt x="2020606" y="439029"/>
                </a:cubicBezTo>
                <a:cubicBezTo>
                  <a:pt x="2226883" y="688575"/>
                  <a:pt x="2380212" y="998721"/>
                  <a:pt x="2500058" y="1241044"/>
                </a:cubicBezTo>
                <a:lnTo>
                  <a:pt x="3753449" y="3762701"/>
                </a:lnTo>
                <a:lnTo>
                  <a:pt x="3755940" y="3767718"/>
                </a:lnTo>
                <a:lnTo>
                  <a:pt x="2499239" y="3767718"/>
                </a:lnTo>
                <a:lnTo>
                  <a:pt x="2498278" y="3765796"/>
                </a:lnTo>
                <a:lnTo>
                  <a:pt x="1255918" y="1279154"/>
                </a:lnTo>
                <a:lnTo>
                  <a:pt x="1255918" y="3767718"/>
                </a:lnTo>
                <a:cubicBezTo>
                  <a:pt x="1255918" y="3767718"/>
                  <a:pt x="1252431" y="3767718"/>
                  <a:pt x="1252431" y="3767718"/>
                </a:cubicBezTo>
                <a:lnTo>
                  <a:pt x="0" y="3767718"/>
                </a:lnTo>
                <a:lnTo>
                  <a:pt x="0" y="1264422"/>
                </a:lnTo>
                <a:cubicBezTo>
                  <a:pt x="0" y="932251"/>
                  <a:pt x="97677" y="616163"/>
                  <a:pt x="299364" y="383020"/>
                </a:cubicBezTo>
                <a:cubicBezTo>
                  <a:pt x="501086" y="149842"/>
                  <a:pt x="806677" y="0"/>
                  <a:pt x="1221722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sz="200">
                <a:solidFill>
                  <a:srgbClr val="070F26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15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22E3CC-1B88-CF67-AD2F-D65E37E3716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NTT DATA Global Logo">
            <a:extLst>
              <a:ext uri="{FF2B5EF4-FFF2-40B4-BE49-F238E27FC236}">
                <a16:creationId xmlns:a16="http://schemas.microsoft.com/office/drawing/2014/main" id="{D3B22713-AB91-EF03-7CF0-CCF486815A38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gray"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3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804863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077913" indent="-2730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2EC269A-C405-3BD2-6FDB-F567447A16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980C6D-8D77-3156-0EA2-7741BD4E6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D9B8D3-955D-25A9-7048-CF24A696C4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A1A72976-1355-1438-BF88-B98FA5A40D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12A5B5-65A7-AFCC-8BF4-6AA359AD1376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85C044-D3E9-8113-B191-7F59B10CAAB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CD00CFB5-4653-7102-10E1-21FCDE711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Treinamento de Java Básico</a:t>
            </a: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F52E4ECF-AC80-8791-CECE-01E6B925A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Introdução e prática de conceitos 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9585BC6-94ED-999F-E797-0341159611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82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E721C-5991-9C18-8D1B-044E2ED8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pt-BR" sz="2000" dirty="0"/>
              <a:t>Apresentar os fundamentos de Java: tipos de dados, operações, entrada de dados, estruturas de controle (condicionais e repetição), funções e conceitos básicos de programação orientada a objetos (classes e herança).</a:t>
            </a:r>
            <a:br>
              <a:rPr lang="pt-BR" sz="2000" dirty="0"/>
            </a:br>
            <a:br>
              <a:rPr lang="pt-BR" sz="2000" dirty="0"/>
            </a:br>
            <a:r>
              <a:rPr lang="pt-BR" sz="2000" dirty="0"/>
              <a:t>Estrutura do treinamento</a:t>
            </a:r>
            <a:br>
              <a:rPr lang="pt-BR" sz="2000" dirty="0"/>
            </a:br>
            <a:r>
              <a:rPr lang="pt-BR" sz="2000" dirty="0"/>
              <a:t>Aula 1: Tipos, variáveis, operações, Scanner e exercícios </a:t>
            </a:r>
            <a:br>
              <a:rPr lang="pt-BR" sz="2000" dirty="0"/>
            </a:br>
            <a:r>
              <a:rPr lang="pt-BR" sz="2000" dirty="0"/>
              <a:t>Aula 2: Condicionais e estruturas de repetição</a:t>
            </a:r>
            <a:br>
              <a:rPr lang="pt-BR" sz="2000" dirty="0"/>
            </a:br>
            <a:r>
              <a:rPr lang="pt-BR" sz="2000" dirty="0"/>
              <a:t>Aula 3: Funções, classes e herança</a:t>
            </a:r>
            <a:br>
              <a:rPr lang="pt-BR" sz="2000" dirty="0"/>
            </a:br>
            <a:endParaRPr lang="pt-BR" sz="20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A2CA62-9445-FB1A-20A3-B096B65164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1257" y="685800"/>
            <a:ext cx="11549743" cy="1447800"/>
          </a:xfrm>
        </p:spPr>
        <p:txBody>
          <a:bodyPr/>
          <a:lstStyle/>
          <a:p>
            <a:r>
              <a:rPr lang="pt-BR" sz="7200" dirty="0"/>
              <a:t>Introdução ao Curso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27D1DC-59D9-5140-862C-BE3CCA938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E18FEB-58CA-4969-21EC-1E80D42D1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E4FB48C-BF6B-3C4B-659D-9A03D9909B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r"/>
            <a:endParaRPr lang="pt-BR" dirty="0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32465F50-5DBC-DCBA-07C7-D2D919699C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9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093E5-40E9-30D2-5E7B-F909177B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Variáveis e Tipos Primitivos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B6A287-0F66-A6BB-B19C-E77E555C5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/>
              <a:t>O que é uma variável?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Uma variável é um nome simbólico que referencia um valor armazenado na memória.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Em Java, variáveis locais devem ser inicializadas antes de uso.</a:t>
            </a:r>
          </a:p>
          <a:p>
            <a:endParaRPr lang="pt-BR" sz="1600" dirty="0"/>
          </a:p>
          <a:p>
            <a:endParaRPr lang="pt-BR" sz="1600" dirty="0"/>
          </a:p>
          <a:p>
            <a:r>
              <a:rPr lang="pt-BR" sz="1600" dirty="0"/>
              <a:t>Boas práticas / observações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Convenção: </a:t>
            </a:r>
            <a:r>
              <a:rPr lang="pt-BR" sz="1600" dirty="0" err="1"/>
              <a:t>camelCase</a:t>
            </a:r>
            <a:r>
              <a:rPr lang="pt-BR" sz="1600" dirty="0"/>
              <a:t> para nomes de variáveis (ex.: </a:t>
            </a:r>
            <a:r>
              <a:rPr lang="pt-BR" sz="1600" dirty="0" err="1"/>
              <a:t>nomeCompleto</a:t>
            </a:r>
            <a:r>
              <a:rPr lang="pt-BR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Evitar nomes pouco descritivos em código real (idade está ok; i só para contadores).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FEB03C-06EF-D1CA-8514-D234B7EAE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FF14C1-B025-5222-0253-948A8FEFB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35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D4CE-92FC-6BA8-FACE-81F0E250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69398-4ADC-88F0-4322-F6BA6B0A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Variáveis e Tipos Primitivos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AAA8F3-B910-7FEB-1EA8-4B33B87E3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 err="1">
                <a:solidFill>
                  <a:schemeClr val="accent2"/>
                </a:solidFill>
              </a:rPr>
              <a:t>int</a:t>
            </a:r>
            <a:r>
              <a:rPr lang="pt-BR" sz="1600" dirty="0">
                <a:solidFill>
                  <a:schemeClr val="accent2"/>
                </a:solidFill>
              </a:rPr>
              <a:t> </a:t>
            </a:r>
            <a:r>
              <a:rPr lang="pt-BR" sz="1600" dirty="0"/>
              <a:t>— número inteiro </a:t>
            </a:r>
            <a:endParaRPr lang="pt-BR" sz="1600" dirty="0">
              <a:solidFill>
                <a:schemeClr val="accent4"/>
              </a:solidFill>
            </a:endParaRPr>
          </a:p>
          <a:p>
            <a:r>
              <a:rPr lang="pt-BR" sz="1600" dirty="0" err="1">
                <a:solidFill>
                  <a:schemeClr val="accent2"/>
                </a:solidFill>
              </a:rPr>
              <a:t>float</a:t>
            </a:r>
            <a:r>
              <a:rPr lang="pt-BR" sz="1600" dirty="0"/>
              <a:t> — ponto flutuante de precisão simples</a:t>
            </a:r>
            <a:endParaRPr lang="pt-BR" sz="1600" dirty="0">
              <a:solidFill>
                <a:schemeClr val="accent4"/>
              </a:solidFill>
            </a:endParaRPr>
          </a:p>
          <a:p>
            <a:r>
              <a:rPr lang="pt-BR" sz="1600" dirty="0" err="1">
                <a:solidFill>
                  <a:schemeClr val="accent2"/>
                </a:solidFill>
              </a:rPr>
              <a:t>double</a:t>
            </a:r>
            <a:r>
              <a:rPr lang="pt-BR" sz="1600" dirty="0">
                <a:solidFill>
                  <a:schemeClr val="accent4"/>
                </a:solidFill>
              </a:rPr>
              <a:t> </a:t>
            </a:r>
            <a:r>
              <a:rPr lang="pt-BR" sz="1600" dirty="0"/>
              <a:t>—representam números de ponto flutuante de precisão dupla, onde precisam duas vezes a quantidade de memória das variáveis </a:t>
            </a:r>
            <a:r>
              <a:rPr lang="pt-BR" sz="1600" dirty="0" err="1"/>
              <a:t>float</a:t>
            </a:r>
            <a:endParaRPr lang="pt-BR" sz="1600" dirty="0"/>
          </a:p>
          <a:p>
            <a:r>
              <a:rPr lang="pt-BR" sz="1600" dirty="0">
                <a:solidFill>
                  <a:schemeClr val="accent2"/>
                </a:solidFill>
              </a:rPr>
              <a:t>char</a:t>
            </a:r>
            <a:r>
              <a:rPr lang="pt-BR" sz="1600" dirty="0"/>
              <a:t> — caractere único entre aspas simples</a:t>
            </a:r>
          </a:p>
          <a:p>
            <a:r>
              <a:rPr lang="pt-BR" sz="1600" dirty="0" err="1">
                <a:solidFill>
                  <a:schemeClr val="accent2"/>
                </a:solidFill>
              </a:rPr>
              <a:t>String</a:t>
            </a:r>
            <a:r>
              <a:rPr lang="pt-BR" sz="1600" dirty="0">
                <a:solidFill>
                  <a:schemeClr val="accent4"/>
                </a:solidFill>
              </a:rPr>
              <a:t> </a:t>
            </a:r>
            <a:r>
              <a:rPr lang="pt-BR" sz="1600" dirty="0"/>
              <a:t>— sequência de caracteres</a:t>
            </a:r>
          </a:p>
          <a:p>
            <a:r>
              <a:rPr lang="pt-BR" sz="1600" dirty="0" err="1">
                <a:solidFill>
                  <a:schemeClr val="accent2"/>
                </a:solidFill>
              </a:rPr>
              <a:t>boolean</a:t>
            </a:r>
            <a:r>
              <a:rPr lang="pt-BR" sz="1600" dirty="0"/>
              <a:t> — verdadeiro/falso</a:t>
            </a:r>
          </a:p>
          <a:p>
            <a:r>
              <a:rPr lang="pt-BR" sz="1600" dirty="0" err="1">
                <a:solidFill>
                  <a:schemeClr val="accent2"/>
                </a:solidFill>
              </a:rPr>
              <a:t>Arrays</a:t>
            </a:r>
            <a:r>
              <a:rPr lang="pt-BR" sz="1600" dirty="0">
                <a:solidFill>
                  <a:schemeClr val="accent2"/>
                </a:solidFill>
              </a:rPr>
              <a:t> (vetores) </a:t>
            </a:r>
            <a:r>
              <a:rPr lang="pt-BR" sz="1600" dirty="0"/>
              <a:t>— Um </a:t>
            </a:r>
            <a:r>
              <a:rPr lang="pt-BR" sz="1600" dirty="0" err="1"/>
              <a:t>array</a:t>
            </a:r>
            <a:r>
              <a:rPr lang="pt-BR" sz="1600" dirty="0"/>
              <a:t> é uma estrutura que armazena uma sequência de elementos do mesmo tipo em posições indexadas.</a:t>
            </a:r>
          </a:p>
          <a:p>
            <a:r>
              <a:rPr lang="pt-BR" sz="1600" dirty="0"/>
              <a:t>Em Java, </a:t>
            </a:r>
            <a:r>
              <a:rPr lang="pt-BR" sz="1600" dirty="0" err="1"/>
              <a:t>arrays</a:t>
            </a:r>
            <a:r>
              <a:rPr lang="pt-BR" sz="1600" dirty="0"/>
              <a:t> têm tamanho fixo (definido na criação) e índices começam em 0.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273CCD5-ED80-008B-ED35-9D947EBB2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4119F7-A722-D7D5-56D4-8620D303B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553B0C-8803-5937-5688-40C69F51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4685823"/>
            <a:ext cx="41148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7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9458-F78E-CE90-A3EF-BE0D6FA0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0B0A0-15C2-CB22-4C15-F369885E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Operações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E39872-6EA7-2557-49E7-7D327856E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/>
              <a:t>Operadores básicos: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Aritméticos: +, -, *, /, % (resto)</a:t>
            </a:r>
          </a:p>
          <a:p>
            <a:endParaRPr lang="pt-BR" sz="1600" dirty="0"/>
          </a:p>
          <a:p>
            <a:r>
              <a:rPr lang="pt-BR" sz="1600" dirty="0"/>
              <a:t>Precedência: multiplicação/divisão antes de soma/subtração. Use parênteses para clareza.</a:t>
            </a:r>
          </a:p>
          <a:p>
            <a:r>
              <a:rPr lang="pt-BR" sz="1600" dirty="0"/>
              <a:t>Operador %: útil para verificar par/impar (n % 2 == 0) .</a:t>
            </a:r>
          </a:p>
          <a:p>
            <a:endParaRPr lang="pt-BR" sz="1600" dirty="0"/>
          </a:p>
          <a:p>
            <a:r>
              <a:rPr lang="pt-BR" sz="1600" dirty="0"/>
              <a:t>Concatenação de </a:t>
            </a:r>
            <a:r>
              <a:rPr lang="pt-BR" sz="1600" dirty="0" err="1"/>
              <a:t>strings</a:t>
            </a:r>
            <a:endParaRPr lang="pt-BR" sz="1600" dirty="0"/>
          </a:p>
          <a:p>
            <a:r>
              <a:rPr lang="pt-BR" sz="1600" dirty="0" err="1"/>
              <a:t>String</a:t>
            </a:r>
            <a:r>
              <a:rPr lang="pt-BR" sz="1600" dirty="0"/>
              <a:t> </a:t>
            </a:r>
            <a:r>
              <a:rPr lang="pt-BR" sz="1600" dirty="0" err="1"/>
              <a:t>nomeCompleto</a:t>
            </a:r>
            <a:r>
              <a:rPr lang="pt-BR" sz="1600" dirty="0"/>
              <a:t> = nome1 + nome2;</a:t>
            </a:r>
          </a:p>
          <a:p>
            <a:endParaRPr lang="pt-BR" sz="1600" dirty="0"/>
          </a:p>
          <a:p>
            <a:r>
              <a:rPr lang="pt-BR" sz="1600" dirty="0"/>
              <a:t>Quando concatena </a:t>
            </a:r>
            <a:r>
              <a:rPr lang="pt-BR" sz="1600" dirty="0" err="1"/>
              <a:t>String</a:t>
            </a:r>
            <a:r>
              <a:rPr lang="pt-BR" sz="1600" dirty="0"/>
              <a:t> com número, o número é convertido para </a:t>
            </a:r>
            <a:r>
              <a:rPr lang="pt-BR" sz="1600" dirty="0" err="1"/>
              <a:t>string</a:t>
            </a:r>
            <a:r>
              <a:rPr lang="pt-BR" sz="1600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B093114-F643-6AA9-0350-0FFED9D6C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06010F1-8C6D-E437-69D7-1D42E5A9F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99B0146-F7B7-4B62-D31A-DEF41CAE3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4212771"/>
            <a:ext cx="43148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0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92D0-E0BC-1915-C6A8-B1DD5A82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0C0C4-C7E6-9A25-3EBC-C19A3300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Entradas de dados com Scanner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60DA1F-46D7-387E-5BEB-8E9DBB393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Scanner é uma classe da biblioteca padrão do Java usada para ler entrada de texto a partir de diversas fontes (ex.: System.in, arquivos, </a:t>
            </a:r>
            <a:r>
              <a:rPr lang="pt-BR" sz="1600" dirty="0" err="1"/>
              <a:t>InputStream</a:t>
            </a:r>
            <a:r>
              <a:rPr lang="pt-BR" sz="1600" dirty="0"/>
              <a:t>, </a:t>
            </a:r>
            <a:r>
              <a:rPr lang="pt-BR" sz="1600" dirty="0" err="1"/>
              <a:t>Readable</a:t>
            </a:r>
            <a:r>
              <a:rPr lang="pt-BR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Introduzida em Java 5, é muito usada para ler dados do console em programas simples e exercícios.</a:t>
            </a:r>
          </a:p>
          <a:p>
            <a:endParaRPr lang="pt-BR" sz="1600" dirty="0"/>
          </a:p>
          <a:p>
            <a:r>
              <a:rPr lang="pt-BR" sz="1600" dirty="0"/>
              <a:t>Principais métodos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nextLine</a:t>
            </a:r>
            <a:r>
              <a:rPr lang="pt-BR" sz="1600" dirty="0"/>
              <a:t>(): lê e retorna a linha completa até o fim da linha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nextInt</a:t>
            </a:r>
            <a:r>
              <a:rPr lang="pt-BR" sz="1600" dirty="0"/>
              <a:t>(): verifica/converte token para 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nextFloat</a:t>
            </a:r>
            <a:r>
              <a:rPr lang="pt-BR" sz="1600" dirty="0"/>
              <a:t>(): verifica/converte token para </a:t>
            </a:r>
            <a:r>
              <a:rPr lang="pt-BR" sz="1600" dirty="0" err="1"/>
              <a:t>float</a:t>
            </a:r>
            <a:r>
              <a:rPr lang="pt-B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nextDouble</a:t>
            </a:r>
            <a:r>
              <a:rPr lang="pt-BR" sz="1600" dirty="0"/>
              <a:t>(): verifica/converte token para </a:t>
            </a:r>
            <a:r>
              <a:rPr lang="pt-BR" sz="1600" dirty="0" err="1"/>
              <a:t>double</a:t>
            </a:r>
            <a:r>
              <a:rPr lang="pt-B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close(): fecha o scanner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B7689A-22A1-E90E-706C-6BB1AE417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FCA818-4E45-1F35-D5ED-1E4ABECB9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161361-D41B-B4FE-F90C-60B1FD828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522" y="3702938"/>
            <a:ext cx="3609975" cy="11525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C3B253A-CC57-CD60-40FE-9D08978A4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22" y="3429000"/>
            <a:ext cx="3352800" cy="2857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161C626-C623-9939-9B27-C5E98CC1B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522" y="4855463"/>
            <a:ext cx="3076575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EC21-B49B-6520-DE54-71CF0B7E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563C7-659C-E413-70C9-CED94939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Aula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1D59A9-5B51-FD36-0D66-9EB156C9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C8CF79-A679-B16E-19F6-1EAA22AB7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A685A6-0D7C-6393-41FF-BEAF5AA50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253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02D0-E521-36FE-0B56-51D55BEC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934D4-D937-2C1C-092E-C8E25BD4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F5000-7FF9-872C-E6BB-962F7D637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 err="1">
                <a:solidFill>
                  <a:schemeClr val="accent2"/>
                </a:solidFill>
              </a:rPr>
              <a:t>if</a:t>
            </a:r>
            <a:r>
              <a:rPr lang="pt-BR" sz="1600" dirty="0"/>
              <a:t> é uma instrução que executa um bloco de código somente se uma condição booleana for verdadeira.</a:t>
            </a:r>
          </a:p>
          <a:p>
            <a:r>
              <a:rPr lang="pt-BR" sz="1600" dirty="0"/>
              <a:t>Sintaxe: </a:t>
            </a:r>
            <a:r>
              <a:rPr lang="pt-BR" sz="1600" dirty="0" err="1"/>
              <a:t>if</a:t>
            </a:r>
            <a:r>
              <a:rPr lang="pt-BR" sz="1600" dirty="0"/>
              <a:t> (condição) { // bloco executado se condição for </a:t>
            </a:r>
            <a:r>
              <a:rPr lang="pt-BR" sz="1600" dirty="0" err="1"/>
              <a:t>true</a:t>
            </a:r>
            <a:r>
              <a:rPr lang="pt-BR" sz="1600" dirty="0"/>
              <a:t> }</a:t>
            </a:r>
          </a:p>
          <a:p>
            <a:endParaRPr lang="pt-BR" sz="1600" dirty="0"/>
          </a:p>
          <a:p>
            <a:r>
              <a:rPr lang="pt-BR" sz="1600" dirty="0" err="1">
                <a:solidFill>
                  <a:schemeClr val="accent2"/>
                </a:solidFill>
              </a:rPr>
              <a:t>else</a:t>
            </a:r>
            <a:r>
              <a:rPr lang="pt-BR" sz="1600" dirty="0">
                <a:solidFill>
                  <a:schemeClr val="accent2"/>
                </a:solidFill>
              </a:rPr>
              <a:t> </a:t>
            </a:r>
            <a:r>
              <a:rPr lang="pt-BR" sz="1600" dirty="0" err="1">
                <a:solidFill>
                  <a:schemeClr val="accent2"/>
                </a:solidFill>
              </a:rPr>
              <a:t>if</a:t>
            </a:r>
            <a:r>
              <a:rPr lang="pt-BR" sz="1600" dirty="0">
                <a:solidFill>
                  <a:schemeClr val="accent2"/>
                </a:solidFill>
              </a:rPr>
              <a:t> </a:t>
            </a:r>
            <a:r>
              <a:rPr lang="pt-BR" sz="1600" dirty="0"/>
              <a:t>permite testar uma nova condição se a condição anterior (</a:t>
            </a:r>
            <a:r>
              <a:rPr lang="pt-BR" sz="1600" dirty="0" err="1"/>
              <a:t>if</a:t>
            </a:r>
            <a:r>
              <a:rPr lang="pt-BR" sz="1600" dirty="0"/>
              <a:t> ou outro </a:t>
            </a:r>
            <a:r>
              <a:rPr lang="pt-BR" sz="1600" dirty="0" err="1"/>
              <a:t>else</a:t>
            </a:r>
            <a:r>
              <a:rPr lang="pt-BR" sz="1600" dirty="0"/>
              <a:t> </a:t>
            </a:r>
            <a:r>
              <a:rPr lang="pt-BR" sz="1600" dirty="0" err="1"/>
              <a:t>if</a:t>
            </a:r>
            <a:r>
              <a:rPr lang="pt-BR" sz="1600" dirty="0"/>
              <a:t>) for falsa.</a:t>
            </a:r>
          </a:p>
          <a:p>
            <a:r>
              <a:rPr lang="pt-BR" sz="1600" dirty="0"/>
              <a:t>Você pode ter vários </a:t>
            </a:r>
            <a:r>
              <a:rPr lang="pt-BR" sz="1600" dirty="0" err="1"/>
              <a:t>else</a:t>
            </a:r>
            <a:r>
              <a:rPr lang="pt-BR" sz="1600" dirty="0"/>
              <a:t> </a:t>
            </a:r>
            <a:r>
              <a:rPr lang="pt-BR" sz="1600" dirty="0" err="1"/>
              <a:t>if</a:t>
            </a:r>
            <a:r>
              <a:rPr lang="pt-BR" sz="1600" dirty="0"/>
              <a:t> encadeados para verificar múltiplas condições em ordem.</a:t>
            </a:r>
          </a:p>
          <a:p>
            <a:endParaRPr lang="pt-BR" sz="1600" dirty="0"/>
          </a:p>
          <a:p>
            <a:r>
              <a:rPr lang="pt-BR" sz="1600" dirty="0" err="1">
                <a:solidFill>
                  <a:schemeClr val="accent2"/>
                </a:solidFill>
              </a:rPr>
              <a:t>else</a:t>
            </a:r>
            <a:r>
              <a:rPr lang="pt-BR" sz="1600" dirty="0"/>
              <a:t> captura o caso final quando nenhuma das condições anteriores foi verdadeira. Não aceita condição.</a:t>
            </a:r>
          </a:p>
          <a:p>
            <a:r>
              <a:rPr lang="pt-BR" sz="1600" dirty="0"/>
              <a:t>É opcional; serve como “coringa” para tratar o caso padrão.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33FC82-E17D-A88E-91AC-6E4D22DC8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45C27D-F716-19D8-68AF-FC9EBD08D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F8F0CFE-A218-4B5D-FA40-70904A7E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5" y="4254080"/>
            <a:ext cx="44005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26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8FFB-968A-AC41-778C-417565AA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9021F-40B2-67F7-729A-A678C4F4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B27222-0834-69A7-0626-7F25F7CFB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>
                <a:solidFill>
                  <a:schemeClr val="accent2"/>
                </a:solidFill>
              </a:rPr>
              <a:t>switch </a:t>
            </a:r>
            <a:r>
              <a:rPr lang="pt-BR" sz="1600" dirty="0"/>
              <a:t>é uma estrutura de seleção múltipla que escolhe qual bloco executar com base no valor de uma expressão.</a:t>
            </a:r>
          </a:p>
          <a:p>
            <a:r>
              <a:rPr lang="pt-BR" sz="1600" dirty="0"/>
              <a:t>É útil quando você precisa comparar uma mesma expressão contra vários valores constantes.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C307D5-20A4-C8F6-657A-0413234A4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0075C9-A353-5A28-D80B-AA0D468D8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38AD2C3-3EC7-7F91-7B74-BD34D6B8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37" y="2567279"/>
            <a:ext cx="51149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478D-865F-137A-3074-B67D4AB9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FA9C1-FEFC-625A-B022-1358F739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Estrutura de 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7F4CE8-D99E-EEB9-2A88-C066C1A5F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07602"/>
            <a:ext cx="11449050" cy="4824413"/>
          </a:xfrm>
        </p:spPr>
        <p:txBody>
          <a:bodyPr/>
          <a:lstStyle/>
          <a:p>
            <a:r>
              <a:rPr lang="pt-BR" sz="1600" dirty="0">
                <a:solidFill>
                  <a:schemeClr val="accent2"/>
                </a:solidFill>
              </a:rPr>
              <a:t>for </a:t>
            </a:r>
          </a:p>
          <a:p>
            <a:r>
              <a:rPr lang="pt-BR" sz="1600" dirty="0"/>
              <a:t>laço controlado por um contador; ideal quando você sabe ou espera o número de iterações.</a:t>
            </a:r>
          </a:p>
          <a:p>
            <a:r>
              <a:rPr lang="pt-BR" sz="1600" dirty="0"/>
              <a:t>Sintaxe: for (inicialização; condição; incremento) { // corpo }</a:t>
            </a:r>
          </a:p>
          <a:p>
            <a:endParaRPr lang="pt-BR" sz="1600" dirty="0">
              <a:solidFill>
                <a:schemeClr val="accent2"/>
              </a:solidFill>
            </a:endParaRPr>
          </a:p>
          <a:p>
            <a:r>
              <a:rPr lang="pt-BR" sz="1600" dirty="0" err="1">
                <a:solidFill>
                  <a:schemeClr val="accent2"/>
                </a:solidFill>
              </a:rPr>
              <a:t>while</a:t>
            </a:r>
            <a:endParaRPr lang="pt-BR" sz="1600" dirty="0">
              <a:solidFill>
                <a:schemeClr val="accent2"/>
              </a:solidFill>
            </a:endParaRPr>
          </a:p>
          <a:p>
            <a:r>
              <a:rPr lang="pt-BR" sz="1600" dirty="0"/>
              <a:t>laço que repete enquanto uma condição for verdadeira; testa a condição antes de executar o corpo.</a:t>
            </a:r>
          </a:p>
          <a:p>
            <a:r>
              <a:rPr lang="pt-BR" sz="1600" dirty="0"/>
              <a:t>Sintaxe: </a:t>
            </a:r>
            <a:r>
              <a:rPr lang="pt-BR" sz="1600" dirty="0" err="1"/>
              <a:t>while</a:t>
            </a:r>
            <a:r>
              <a:rPr lang="pt-BR" sz="1600" dirty="0"/>
              <a:t> (</a:t>
            </a:r>
            <a:r>
              <a:rPr lang="pt-BR" sz="1600" dirty="0" err="1"/>
              <a:t>condicao</a:t>
            </a:r>
            <a:r>
              <a:rPr lang="pt-BR" sz="1600" dirty="0"/>
              <a:t>) { // corpo }</a:t>
            </a:r>
          </a:p>
          <a:p>
            <a:endParaRPr lang="pt-BR" sz="1600" dirty="0"/>
          </a:p>
          <a:p>
            <a:r>
              <a:rPr lang="pt-BR" sz="1600" dirty="0">
                <a:solidFill>
                  <a:schemeClr val="accent2"/>
                </a:solidFill>
              </a:rPr>
              <a:t>do-</a:t>
            </a:r>
            <a:r>
              <a:rPr lang="pt-BR" sz="1600" dirty="0" err="1">
                <a:solidFill>
                  <a:schemeClr val="accent2"/>
                </a:solidFill>
              </a:rPr>
              <a:t>while</a:t>
            </a:r>
            <a:endParaRPr lang="pt-BR" sz="1600" dirty="0">
              <a:solidFill>
                <a:schemeClr val="accent2"/>
              </a:solidFill>
            </a:endParaRPr>
          </a:p>
          <a:p>
            <a:r>
              <a:rPr lang="pt-BR" sz="1600" dirty="0"/>
              <a:t>similar ao </a:t>
            </a:r>
            <a:r>
              <a:rPr lang="pt-BR" sz="1600" dirty="0" err="1"/>
              <a:t>while</a:t>
            </a:r>
            <a:r>
              <a:rPr lang="pt-BR" sz="1600" dirty="0"/>
              <a:t>, mas garante que o corpo seja executado pelo menos uma vez; testa a condição após o corpo.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D26DA53-B190-E0C6-BF2E-928BF43AE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F61933-DD0D-6AF4-6EF6-96BCA07D1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00F820-123F-2802-D9A0-464FCB607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5115897"/>
            <a:ext cx="3371850" cy="8382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5DDB421-338C-90E7-23F8-6A463FB86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078" y="4925397"/>
            <a:ext cx="3343275" cy="10287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0F66717-639E-1C39-3C1B-41DE93309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952" y="4801572"/>
            <a:ext cx="37052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67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7D9D-A0D8-0E45-B485-123BE8F5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3A18A-7195-9FFE-0996-D510730B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Aula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956363-FAAC-A58A-B9E0-E0706454A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3002A5-D7C6-54DD-9589-DC0D2C35A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30EA75B-708E-497E-26B5-361C46567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211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BD2DB-CFC6-49A9-6477-86A1E68E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29692-4D73-D4AE-0813-B469AAB9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Funções e 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8DCF6E-8258-50F3-9439-1D2285812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/>
              <a:t>Um método é um bloco de código nomeado que realiza uma tarefa específica</a:t>
            </a:r>
          </a:p>
          <a:p>
            <a:r>
              <a:rPr lang="pt-BR" sz="1600" dirty="0"/>
              <a:t>Métodos recebem argumentos (opcionais), podem retornar um valor (ou </a:t>
            </a:r>
            <a:r>
              <a:rPr lang="pt-BR" sz="1600" dirty="0" err="1"/>
              <a:t>void</a:t>
            </a:r>
            <a:r>
              <a:rPr lang="pt-BR" sz="1600" dirty="0"/>
              <a:t>) e encapsulam comportamento reutilizável</a:t>
            </a:r>
          </a:p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Tipos de métodos e modificadores</a:t>
            </a:r>
          </a:p>
          <a:p>
            <a:r>
              <a:rPr lang="pt-BR" sz="1600" dirty="0"/>
              <a:t>Visibilidade: </a:t>
            </a:r>
            <a:r>
              <a:rPr lang="pt-BR" sz="1600" dirty="0" err="1"/>
              <a:t>public</a:t>
            </a:r>
            <a:r>
              <a:rPr lang="pt-BR" sz="1600" dirty="0"/>
              <a:t>, </a:t>
            </a:r>
            <a:r>
              <a:rPr lang="pt-BR" sz="1600" dirty="0" err="1"/>
              <a:t>protected</a:t>
            </a:r>
            <a:r>
              <a:rPr lang="pt-BR" sz="1600" dirty="0"/>
              <a:t>, </a:t>
            </a:r>
            <a:r>
              <a:rPr lang="pt-BR" sz="1600" dirty="0" err="1"/>
              <a:t>private</a:t>
            </a:r>
            <a:r>
              <a:rPr lang="pt-BR" sz="1600" dirty="0"/>
              <a:t>.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: acessível de qualquer lugar.</a:t>
            </a:r>
          </a:p>
          <a:p>
            <a:r>
              <a:rPr lang="pt-BR" sz="1600" dirty="0" err="1"/>
              <a:t>protected</a:t>
            </a:r>
            <a:r>
              <a:rPr lang="pt-BR" sz="1600" dirty="0"/>
              <a:t>: acessível dentro do mesmo pacote e por subclasses </a:t>
            </a:r>
          </a:p>
          <a:p>
            <a:r>
              <a:rPr lang="pt-BR" sz="1600" dirty="0" err="1"/>
              <a:t>private</a:t>
            </a:r>
            <a:r>
              <a:rPr lang="pt-BR" sz="1600" dirty="0"/>
              <a:t>: acessível apenas dentro da mesma classe.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217DCF-911B-DBDC-7189-862916D51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A164AD-A01F-4AE4-678C-488026725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A850674-1F48-B87C-0F76-3CAD4D5CA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5" y="4646580"/>
            <a:ext cx="36004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0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9747-F6AE-070F-B0BE-403978E8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1E845-EFC9-BD89-BD6F-1328EEF4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Classes e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5625C9-D924-70B7-7D65-5C78DB4CA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>
                <a:solidFill>
                  <a:schemeClr val="accent2"/>
                </a:solidFill>
              </a:rPr>
              <a:t>Classe</a:t>
            </a:r>
            <a:r>
              <a:rPr lang="pt-BR" sz="1600" dirty="0"/>
              <a:t> é o molde que descreve um tipo: seus atributos e métodos (comportamento).</a:t>
            </a:r>
          </a:p>
          <a:p>
            <a:r>
              <a:rPr lang="pt-BR" sz="1600" dirty="0"/>
              <a:t>Um objeto (instância) é criado a partir desse molde e possui seus próprios valores de atributos.</a:t>
            </a:r>
          </a:p>
          <a:p>
            <a:r>
              <a:rPr lang="pt-BR" sz="1600" dirty="0"/>
              <a:t>Em Java tudo (exceto tipos primitivos) é organizado em classes e pacotes</a:t>
            </a:r>
          </a:p>
          <a:p>
            <a:endParaRPr lang="pt-BR" sz="1600" dirty="0"/>
          </a:p>
          <a:p>
            <a:r>
              <a:rPr lang="pt-BR" sz="1600" dirty="0"/>
              <a:t>Sintaxe básica — componentes essenciais:</a:t>
            </a:r>
          </a:p>
          <a:p>
            <a:r>
              <a:rPr lang="pt-BR" sz="1600" dirty="0"/>
              <a:t>Atributos: variáveis declaradas dentro da classe, fora de métodos.</a:t>
            </a:r>
          </a:p>
          <a:p>
            <a:r>
              <a:rPr lang="pt-BR" sz="1600" dirty="0"/>
              <a:t>Métodos: funções que manipulam o estado ou realizam ações.</a:t>
            </a:r>
          </a:p>
          <a:p>
            <a:r>
              <a:rPr lang="pt-BR" sz="1600" dirty="0"/>
              <a:t>Construtores: blocos especiais para inicializar novos objetos.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F27153-7ADE-9507-01D5-B3A6F288F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4B5095-CE0E-95A6-7495-EBFE21204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30B678-65BE-A669-F4BA-AC133E5FA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318" y="2871216"/>
            <a:ext cx="47244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74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8A75-98F5-D4B7-EBCB-0D944FAB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3D2D8-64F8-5429-8522-AC0D5E8E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accent2"/>
                </a:solidFill>
              </a:rPr>
              <a:t>Herança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213BCF-1408-0CAF-0932-FA81D6DA6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/>
              <a:t>Herança é um mecanismo que permite a uma classe (subclasse) reutilizar atributos e comportamentos de outra classe (superclasse).</a:t>
            </a:r>
          </a:p>
          <a:p>
            <a:r>
              <a:rPr lang="pt-BR" sz="1600" dirty="0"/>
              <a:t>Exemplo: Pessoa é a superclasse com dados comuns (nome, idade, altura). Aluno e Professor são subclasses que "herdam" esses atributos e métodos</a:t>
            </a:r>
          </a:p>
          <a:p>
            <a:endParaRPr lang="pt-BR" sz="1600" dirty="0"/>
          </a:p>
          <a:p>
            <a:r>
              <a:rPr lang="pt-BR" sz="1600" dirty="0"/>
              <a:t>Porque usar herança?</a:t>
            </a:r>
          </a:p>
          <a:p>
            <a:r>
              <a:rPr lang="pt-BR" sz="1600" dirty="0"/>
              <a:t>Evita repetição: não precisa declarar nome, idade, altura em Aluno e Professor novamente.</a:t>
            </a:r>
          </a:p>
          <a:p>
            <a:r>
              <a:rPr lang="pt-BR" sz="1600" dirty="0"/>
              <a:t>Centraliza o comportamento comum (ex.: </a:t>
            </a:r>
            <a:r>
              <a:rPr lang="pt-BR" sz="1600" dirty="0" err="1"/>
              <a:t>getters</a:t>
            </a:r>
            <a:r>
              <a:rPr lang="pt-BR" sz="1600" dirty="0"/>
              <a:t>/</a:t>
            </a:r>
            <a:r>
              <a:rPr lang="pt-BR" sz="1600" dirty="0" err="1"/>
              <a:t>setters</a:t>
            </a:r>
            <a:r>
              <a:rPr lang="pt-BR" sz="1600" dirty="0"/>
              <a:t> em Pessoa).</a:t>
            </a:r>
          </a:p>
          <a:p>
            <a:r>
              <a:rPr lang="pt-BR" sz="1600" dirty="0"/>
              <a:t>Permite que cada subclasse adicione só o que é específico (ex.: matricula para Aluno, salario e disciplina para Professor)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DAA863-CAD0-81DF-2BB1-032C09DE9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E132C9-C990-E8DC-21C7-468E5E7C4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7" name="Picture 2" descr="Herança (extends) • Universidade Java">
            <a:extLst>
              <a:ext uri="{FF2B5EF4-FFF2-40B4-BE49-F238E27FC236}">
                <a16:creationId xmlns:a16="http://schemas.microsoft.com/office/drawing/2014/main" id="{E2DE3043-08DB-E8E4-F196-643A120F7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437" y="4578350"/>
            <a:ext cx="366712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577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810E5FFB-01AD-41E8-12E4-6859645336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6FE700-F421-2803-21D4-6C146B34E6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BC297A-FB74-6EDA-A883-0BDEEBADED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605466"/>
      </p:ext>
    </p:extLst>
  </p:cSld>
  <p:clrMapOvr>
    <a:masterClrMapping/>
  </p:clrMapOvr>
</p:sld>
</file>

<file path=ppt/theme/theme1.xml><?xml version="1.0" encoding="utf-8"?>
<a:theme xmlns:a="http://schemas.openxmlformats.org/drawingml/2006/main" name="NTT DATA DARK ">
  <a:themeElements>
    <a:clrScheme name="NTT DATA 23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7F7F7F"/>
      </a:accent6>
      <a:hlink>
        <a:srgbClr val="19A3FC"/>
      </a:hlink>
      <a:folHlink>
        <a:srgbClr val="0072BC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 w="9525"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Global_Template" id="{6236245E-946F-4E24-B7D0-199362C5FA15}" vid="{E54CAAD5-1FA4-4B04-90D3-F0736A13706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FB9B8F91C0234294F5514D67C2B6C2" ma:contentTypeVersion="18" ma:contentTypeDescription="Crear nuevo documento." ma:contentTypeScope="" ma:versionID="4fa456b0aa022484d66325f480042e8d">
  <xsd:schema xmlns:xsd="http://www.w3.org/2001/XMLSchema" xmlns:xs="http://www.w3.org/2001/XMLSchema" xmlns:p="http://schemas.microsoft.com/office/2006/metadata/properties" xmlns:ns3="fcfb303e-fe19-4aa2-a59a-4027135578fc" xmlns:ns4="62d238fc-7621-40af-b280-4f368df641db" targetNamespace="http://schemas.microsoft.com/office/2006/metadata/properties" ma:root="true" ma:fieldsID="563fe4b2603e5b4cece8514f3b757866" ns3:_="" ns4:_="">
    <xsd:import namespace="fcfb303e-fe19-4aa2-a59a-4027135578fc"/>
    <xsd:import namespace="62d238fc-7621-40af-b280-4f368df641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b303e-fe19-4aa2-a59a-4027135578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d238fc-7621-40af-b280-4f368df641d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cfb303e-fe19-4aa2-a59a-4027135578fc" xsi:nil="true"/>
  </documentManagement>
</p:properties>
</file>

<file path=customXml/itemProps1.xml><?xml version="1.0" encoding="utf-8"?>
<ds:datastoreItem xmlns:ds="http://schemas.openxmlformats.org/officeDocument/2006/customXml" ds:itemID="{D08B5CC4-B865-48FF-B51D-A6CB94C997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fb303e-fe19-4aa2-a59a-4027135578fc"/>
    <ds:schemaRef ds:uri="62d238fc-7621-40af-b280-4f368df641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516C70-0223-402C-AB9A-006FE9D369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4170B0-1401-4359-848F-0C6367F29432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62d238fc-7621-40af-b280-4f368df641db"/>
    <ds:schemaRef ds:uri="http://www.w3.org/XML/1998/namespace"/>
    <ds:schemaRef ds:uri="fcfb303e-fe19-4aa2-a59a-4027135578fc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Georgia</vt:lpstr>
      <vt:lpstr>Roboto</vt:lpstr>
      <vt:lpstr>NTT DATA DARK </vt:lpstr>
      <vt:lpstr>Treinamento de Java Básico</vt:lpstr>
      <vt:lpstr>Apresentar os fundamentos de Java: tipos de dados, operações, entrada de dados, estruturas de controle (condicionais e repetição), funções e conceitos básicos de programação orientada a objetos (classes e herança).  Estrutura do treinamento Aula 1: Tipos, variáveis, operações, Scanner e exercícios  Aula 2: Condicionais e estruturas de repetição Aula 3: Funções, classes e herança </vt:lpstr>
      <vt:lpstr>Variáveis e Tipos Primitivos</vt:lpstr>
      <vt:lpstr>Variáveis e Tipos Primitivos</vt:lpstr>
      <vt:lpstr>Operações</vt:lpstr>
      <vt:lpstr>Entradas de dados com Scanner</vt:lpstr>
      <vt:lpstr>Aula 2</vt:lpstr>
      <vt:lpstr>Estruturas condicionais</vt:lpstr>
      <vt:lpstr>Estruturas condicionais</vt:lpstr>
      <vt:lpstr>Estrutura de repetição</vt:lpstr>
      <vt:lpstr>Aula 3</vt:lpstr>
      <vt:lpstr>Funções e métodos</vt:lpstr>
      <vt:lpstr>Classes e Objetos</vt:lpstr>
      <vt:lpstr>Herança</vt:lpstr>
      <vt:lpstr>Apresentação do PowerPoint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Akinely Fabiana Reis</dc:creator>
  <cp:lastModifiedBy>Olesio Gardenghi Neto</cp:lastModifiedBy>
  <cp:revision>22</cp:revision>
  <dcterms:created xsi:type="dcterms:W3CDTF">2025-09-18T18:49:04Z</dcterms:created>
  <dcterms:modified xsi:type="dcterms:W3CDTF">2026-04-02T18:12:12Z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0x010100C0FB9B8F91C0234294F5514D67C2B6C2</vt:lpwstr>
  </property>
</Properties>
</file>